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5"/>
    <p:sldId id="286" r:id="rId36"/>
    <p:sldId id="284" r:id="rId31"/>
  </p:sldIdLst>
  <p:sldSz cx="12191695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 snapToGrid="0" snapToObjects="1">
      <p:cViewPr varScale="1">
        <p:scale>
          <a:sx n="84" d="100"/>
          <a:sy n="84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ableStyles" Target="tableStyles.xml"/>  <Relationship Id="rId35" Type="http://schemas.openxmlformats.org/officeDocument/2006/relationships/slide" Target="slides/slide30.xml"/>
  <Relationship Id="rId36" Type="http://schemas.openxmlformats.org/officeDocument/2006/relationships/slide" Target="slides/slide31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754" y="3886199"/>
            <a:ext cx="8534186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275755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592443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405681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781678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32889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812713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363511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232697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057715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972707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333548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457200" y="274638"/>
            <a:ext cx="8229600" cy="114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457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3124200" y="6356349"/>
            <a:ext cx="2895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6553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050534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9/8/2026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150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32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8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0" charset="0"/>
        <a:buChar char="»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12" name="矩形"/>
          <p:cNvSpPr>
            <a:spLocks/>
          </p:cNvSpPr>
          <p:nvPr/>
        </p:nvSpPr>
        <p:spPr>
          <a:xfrm rot="0">
            <a:off x="640080" y="411480"/>
            <a:ext cx="2077440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Prediction AI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" name="矩形"/>
          <p:cNvSpPr>
            <a:spLocks/>
          </p:cNvSpPr>
          <p:nvPr/>
        </p:nvSpPr>
        <p:spPr>
          <a:xfrm rot="0">
            <a:off x="822960" y="1371600"/>
            <a:ext cx="10607040" cy="1282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Milestone 2 – Risk Assessment &amp; SWOT Analysis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Concept &amp; Project Analysis Session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347936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 rot="0">
            <a:off x="640080" y="411480"/>
            <a:ext cx="3090900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Learning Objectives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 rot="0">
            <a:off x="822960" y="1371600"/>
            <a:ext cx="10607040" cy="21774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Understand Risk Assessment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Identify five major project risks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Understand Risk Scoring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Learn SWOT Analysis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Understand Project Feasibility Assessment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441216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18" name="矩形"/>
          <p:cNvSpPr>
            <a:spLocks/>
          </p:cNvSpPr>
          <p:nvPr/>
        </p:nvSpPr>
        <p:spPr>
          <a:xfrm rot="0">
            <a:off x="640080" y="411480"/>
            <a:ext cx="3340887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Milestone 2 Overview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" name="矩形"/>
          <p:cNvSpPr>
            <a:spLocks/>
          </p:cNvSpPr>
          <p:nvPr/>
        </p:nvSpPr>
        <p:spPr>
          <a:xfrm rot="0">
            <a:off x="822960" y="1371600"/>
            <a:ext cx="10607040" cy="21774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Risk Assessment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Risk Scoring Engine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Automatic SWOT Analysis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Project Feasibility Assessment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Final Recommendation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774603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21" name="矩形"/>
          <p:cNvSpPr>
            <a:spLocks/>
          </p:cNvSpPr>
          <p:nvPr/>
        </p:nvSpPr>
        <p:spPr>
          <a:xfrm rot="0">
            <a:off x="640080" y="411480"/>
            <a:ext cx="4948910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From Milestone 1 to Milestone 2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2" name="矩形"/>
          <p:cNvSpPr>
            <a:spLocks/>
          </p:cNvSpPr>
          <p:nvPr/>
        </p:nvSpPr>
        <p:spPr>
          <a:xfrm rot="0">
            <a:off x="822960" y="1371600"/>
            <a:ext cx="10607040" cy="1282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Milestone 1: Project Information → Market Analysis → Competitor Analysis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Milestone 2: Risk Assessment → SWOT Analysis → Feasibility Assessment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Goal: Convert project information into an evaluation and decision.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405592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24" name="矩形"/>
          <p:cNvSpPr>
            <a:spLocks/>
          </p:cNvSpPr>
          <p:nvPr/>
        </p:nvSpPr>
        <p:spPr>
          <a:xfrm rot="0">
            <a:off x="640080" y="411480"/>
            <a:ext cx="2151760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What is Risk?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5" name="矩形"/>
          <p:cNvSpPr>
            <a:spLocks/>
          </p:cNvSpPr>
          <p:nvPr/>
        </p:nvSpPr>
        <p:spPr>
          <a:xfrm rot="0">
            <a:off x="822960" y="1371600"/>
            <a:ext cx="10607040" cy="1577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Risk is the possibility that something may negatively affect a project.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Examples: lack of customers, insufficient money, strong competitors, technology problems, operational problems.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Key question: What can go wrong?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276205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27" name="矩形"/>
          <p:cNvSpPr>
            <a:spLocks/>
          </p:cNvSpPr>
          <p:nvPr/>
        </p:nvSpPr>
        <p:spPr>
          <a:xfrm rot="0">
            <a:off x="640080" y="411480"/>
            <a:ext cx="3874642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Why Do We Assess Risk?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 rot="0">
            <a:off x="822960" y="1371600"/>
            <a:ext cx="10607040" cy="1729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Identify possible problems before implementation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Understand the seriousness of each risk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Support better project decisions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Reduce unexpected problems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948964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30" name="矩形"/>
          <p:cNvSpPr>
            <a:spLocks/>
          </p:cNvSpPr>
          <p:nvPr/>
        </p:nvSpPr>
        <p:spPr>
          <a:xfrm rot="0">
            <a:off x="640080" y="411480"/>
            <a:ext cx="3969232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Five Types of Project Risk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1" name="矩形"/>
          <p:cNvSpPr>
            <a:spLocks/>
          </p:cNvSpPr>
          <p:nvPr/>
        </p:nvSpPr>
        <p:spPr>
          <a:xfrm rot="0">
            <a:off x="822960" y="1371600"/>
            <a:ext cx="10607040" cy="21774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1. Market Risk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2. Financial Risk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3. Competition Risk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4. Technical Risk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5. Operational Risk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57015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33" name="矩形"/>
          <p:cNvSpPr>
            <a:spLocks/>
          </p:cNvSpPr>
          <p:nvPr/>
        </p:nvSpPr>
        <p:spPr>
          <a:xfrm rot="0">
            <a:off x="640080" y="411480"/>
            <a:ext cx="2286888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1. Market Risk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4" name="矩形"/>
          <p:cNvSpPr>
            <a:spLocks/>
          </p:cNvSpPr>
          <p:nvPr/>
        </p:nvSpPr>
        <p:spPr>
          <a:xfrm rot="0">
            <a:off x="822960" y="1371600"/>
            <a:ext cx="10607040" cy="1282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Meaning: Uncertainty about customer demand and market acceptance.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Example: Customers may not be interested in the product.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Key question: Will customers actually want our product?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408495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36" name="矩形"/>
          <p:cNvSpPr>
            <a:spLocks/>
          </p:cNvSpPr>
          <p:nvPr/>
        </p:nvSpPr>
        <p:spPr>
          <a:xfrm rot="0">
            <a:off x="640080" y="411480"/>
            <a:ext cx="2584170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2. Financial Risk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7" name="矩形"/>
          <p:cNvSpPr>
            <a:spLocks/>
          </p:cNvSpPr>
          <p:nvPr/>
        </p:nvSpPr>
        <p:spPr>
          <a:xfrm rot="0">
            <a:off x="822960" y="1371600"/>
            <a:ext cx="10607040" cy="1282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Meaning: Possibility of money-related problems.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Example: Project requires ₹10 lakhs but only ₹5 lakhs is available.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Key question: Do we have enough financial resources?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239505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39" name="矩形"/>
          <p:cNvSpPr>
            <a:spLocks/>
          </p:cNvSpPr>
          <p:nvPr/>
        </p:nvSpPr>
        <p:spPr>
          <a:xfrm rot="0">
            <a:off x="640080" y="411480"/>
            <a:ext cx="3063874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3. Competition Risk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0" name="矩形"/>
          <p:cNvSpPr>
            <a:spLocks/>
          </p:cNvSpPr>
          <p:nvPr/>
        </p:nvSpPr>
        <p:spPr>
          <a:xfrm rot="0">
            <a:off x="822960" y="1371600"/>
            <a:ext cx="10607040" cy="1282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Meaning: Risk created by existing or new competitors.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Example: Several strong companies already offer similar products.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Key question: Can our project compete successfully?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356971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42" name="矩形"/>
          <p:cNvSpPr>
            <a:spLocks/>
          </p:cNvSpPr>
          <p:nvPr/>
        </p:nvSpPr>
        <p:spPr>
          <a:xfrm rot="0">
            <a:off x="640080" y="411480"/>
            <a:ext cx="2685516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4. Technical Risk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3" name="矩形"/>
          <p:cNvSpPr>
            <a:spLocks/>
          </p:cNvSpPr>
          <p:nvPr/>
        </p:nvSpPr>
        <p:spPr>
          <a:xfrm rot="0">
            <a:off x="822960" y="1371600"/>
            <a:ext cx="10607040" cy="1282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Meaning: Risk related to technology, development or technical skills.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Example: Project requires advanced AI but the team lacks expertise.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Key question: Can we technically build the project?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346892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45" name="矩形"/>
          <p:cNvSpPr>
            <a:spLocks/>
          </p:cNvSpPr>
          <p:nvPr/>
        </p:nvSpPr>
        <p:spPr>
          <a:xfrm rot="0">
            <a:off x="640080" y="411480"/>
            <a:ext cx="2962529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5. Operational Risk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6" name="矩形"/>
          <p:cNvSpPr>
            <a:spLocks/>
          </p:cNvSpPr>
          <p:nvPr/>
        </p:nvSpPr>
        <p:spPr>
          <a:xfrm rot="0">
            <a:off x="822960" y="1371600"/>
            <a:ext cx="10607040" cy="1282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Meaning: Problems that may occur while running the project.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Examples: staff shortage, poor management, resource or maintenance problems.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Key question: Can we operate the project successfully?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937139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48" name="矩形"/>
          <p:cNvSpPr>
            <a:spLocks/>
          </p:cNvSpPr>
          <p:nvPr/>
        </p:nvSpPr>
        <p:spPr>
          <a:xfrm rot="0">
            <a:off x="640080" y="411480"/>
            <a:ext cx="2016632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Risk Scoring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9" name="矩形"/>
          <p:cNvSpPr>
            <a:spLocks/>
          </p:cNvSpPr>
          <p:nvPr/>
        </p:nvSpPr>
        <p:spPr>
          <a:xfrm rot="0">
            <a:off x="822960" y="1371600"/>
            <a:ext cx="10607040" cy="26250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Risk is measured using a simple 1–5 scale.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 = Very Low Risk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 = Low Risk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3 = Medium Risk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4 = High Risk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5 = Very High Risk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257505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51" name="矩形"/>
          <p:cNvSpPr>
            <a:spLocks/>
          </p:cNvSpPr>
          <p:nvPr/>
        </p:nvSpPr>
        <p:spPr>
          <a:xfrm rot="0">
            <a:off x="640080" y="411480"/>
            <a:ext cx="4273270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Example: Overall Risk Score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2" name="矩形"/>
          <p:cNvSpPr>
            <a:spLocks/>
          </p:cNvSpPr>
          <p:nvPr/>
        </p:nvSpPr>
        <p:spPr>
          <a:xfrm rot="0">
            <a:off x="822960" y="1371600"/>
            <a:ext cx="10607040" cy="30727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Market Risk = 3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Financial Risk = 4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Competition Risk = 4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Technical Risk = 2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Operational Risk = 3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Average = (3 + 4 + 4 + 2 + 3) / 5 = 3.2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Result: Medium Risk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703938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54" name="矩形"/>
          <p:cNvSpPr>
            <a:spLocks/>
          </p:cNvSpPr>
          <p:nvPr/>
        </p:nvSpPr>
        <p:spPr>
          <a:xfrm rot="0">
            <a:off x="640080" y="411480"/>
            <a:ext cx="4253001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Why Calculate Overall Risk?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5" name="矩形"/>
          <p:cNvSpPr>
            <a:spLocks/>
          </p:cNvSpPr>
          <p:nvPr/>
        </p:nvSpPr>
        <p:spPr>
          <a:xfrm rot="0">
            <a:off x="822960" y="1371600"/>
            <a:ext cx="10607040" cy="1729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Five separate risk values can be difficult to interpret.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One overall score gives a quick view of project risk.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Higher score = Higher risk.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The score supports project decision-making.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189979"/>
      </p:ext>
    </p:extLst>
  </p:cSld>
  <p:clrMapOvr>
    <a:masterClrMapping/>
  </p:clrMapOvr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57" name="矩形"/>
          <p:cNvSpPr>
            <a:spLocks/>
          </p:cNvSpPr>
          <p:nvPr/>
        </p:nvSpPr>
        <p:spPr>
          <a:xfrm rot="0">
            <a:off x="640080" y="411480"/>
            <a:ext cx="3766539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What is SWOT Analysis?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8" name="矩形"/>
          <p:cNvSpPr>
            <a:spLocks/>
          </p:cNvSpPr>
          <p:nvPr/>
        </p:nvSpPr>
        <p:spPr>
          <a:xfrm rot="0">
            <a:off x="822960" y="1371600"/>
            <a:ext cx="10607040" cy="1729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SWOT = Strengths, Weaknesses, Opportunities, Threats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It provides a structured view of the project's current position.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Strengths and Weaknesses are mainly internal.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Opportunities and Threats are mainly external.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44173"/>
      </p:ext>
    </p:extLst>
  </p:cSld>
  <p:clrMapOvr>
    <a:masterClrMapping/>
  </p:clrMapOvr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60" name="矩形"/>
          <p:cNvSpPr>
            <a:spLocks/>
          </p:cNvSpPr>
          <p:nvPr/>
        </p:nvSpPr>
        <p:spPr>
          <a:xfrm rot="0">
            <a:off x="640080" y="411480"/>
            <a:ext cx="1611248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Strengths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1" name="矩形"/>
          <p:cNvSpPr>
            <a:spLocks/>
          </p:cNvSpPr>
          <p:nvPr/>
        </p:nvSpPr>
        <p:spPr>
          <a:xfrm rot="0">
            <a:off x="822960" y="1371600"/>
            <a:ext cx="10607040" cy="1282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Internal advantages of the project.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Examples: unique technology, skilled team, low cost, strong product quality.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Key question: What are we good at?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012569"/>
      </p:ext>
    </p:extLst>
  </p:cSld>
  <p:clrMapOvr>
    <a:masterClrMapping/>
  </p:clrMapOvr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63" name="矩形"/>
          <p:cNvSpPr>
            <a:spLocks/>
          </p:cNvSpPr>
          <p:nvPr/>
        </p:nvSpPr>
        <p:spPr>
          <a:xfrm rot="0">
            <a:off x="640080" y="411480"/>
            <a:ext cx="2057171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Weaknesses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4" name="矩形"/>
          <p:cNvSpPr>
            <a:spLocks/>
          </p:cNvSpPr>
          <p:nvPr/>
        </p:nvSpPr>
        <p:spPr>
          <a:xfrm rot="0">
            <a:off x="822960" y="1371600"/>
            <a:ext cx="10607040" cy="1282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Internal limitations of the project.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Examples: limited budget, small team, lack of experience, high development cost.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Key question: What do we need to improve?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627002"/>
      </p:ext>
    </p:extLst>
  </p:cSld>
  <p:clrMapOvr>
    <a:masterClrMapping/>
  </p:clrMapOvr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66" name="矩形"/>
          <p:cNvSpPr>
            <a:spLocks/>
          </p:cNvSpPr>
          <p:nvPr/>
        </p:nvSpPr>
        <p:spPr>
          <a:xfrm rot="0">
            <a:off x="640080" y="411480"/>
            <a:ext cx="2185542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Opportunities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7" name="矩形"/>
          <p:cNvSpPr>
            <a:spLocks/>
          </p:cNvSpPr>
          <p:nvPr/>
        </p:nvSpPr>
        <p:spPr>
          <a:xfrm rot="0">
            <a:off x="822960" y="1371600"/>
            <a:ext cx="10607040" cy="1282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External situations that can help the project grow.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Examples: growing market, increasing demand, new customer segments, new technology.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Key question: Where can we grow?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304076"/>
      </p:ext>
    </p:extLst>
  </p:cSld>
  <p:clrMapOvr>
    <a:masterClrMapping/>
  </p:clrMapOvr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69" name="矩形"/>
          <p:cNvSpPr>
            <a:spLocks/>
          </p:cNvSpPr>
          <p:nvPr/>
        </p:nvSpPr>
        <p:spPr>
          <a:xfrm rot="0">
            <a:off x="640080" y="411480"/>
            <a:ext cx="1313967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Threats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0" name="矩形"/>
          <p:cNvSpPr>
            <a:spLocks/>
          </p:cNvSpPr>
          <p:nvPr/>
        </p:nvSpPr>
        <p:spPr>
          <a:xfrm rot="0">
            <a:off x="822960" y="1371600"/>
            <a:ext cx="10607040" cy="1282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External factors that can negatively affect the project.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Examples: strong competitors, market changes, regulations, technology changes.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Key question: What can harm our project?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264981"/>
      </p:ext>
    </p:extLst>
  </p:cSld>
  <p:clrMapOvr>
    <a:masterClrMapping/>
  </p:clrMapOvr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72" name="矩形"/>
          <p:cNvSpPr>
            <a:spLocks/>
          </p:cNvSpPr>
          <p:nvPr/>
        </p:nvSpPr>
        <p:spPr>
          <a:xfrm rot="0">
            <a:off x="640080" y="411480"/>
            <a:ext cx="2827401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SWOT Quick View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3" name="矩形"/>
          <p:cNvSpPr>
            <a:spLocks/>
          </p:cNvSpPr>
          <p:nvPr/>
        </p:nvSpPr>
        <p:spPr>
          <a:xfrm rot="0">
            <a:off x="822960" y="1371600"/>
            <a:ext cx="10607040" cy="1282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INTERNAL: Strengths (Positive) | Weaknesses (Negative)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EXTERNAL: Opportunities (Positive) | Threats (Negative)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Use SWOT to understand both internal capability and external environment.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961825"/>
      </p:ext>
    </p:extLst>
  </p:cSld>
  <p:clrMapOvr>
    <a:masterClrMapping/>
  </p:clrMapOvr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75" name="矩形"/>
          <p:cNvSpPr>
            <a:spLocks/>
          </p:cNvSpPr>
          <p:nvPr/>
        </p:nvSpPr>
        <p:spPr>
          <a:xfrm rot="0">
            <a:off x="640080" y="411480"/>
            <a:ext cx="4921884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What is Feasibility Assessment?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6" name="矩形"/>
          <p:cNvSpPr>
            <a:spLocks/>
          </p:cNvSpPr>
          <p:nvPr/>
        </p:nvSpPr>
        <p:spPr>
          <a:xfrm rot="0">
            <a:off x="822960" y="1371600"/>
            <a:ext cx="10607040" cy="8343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Feasibility means determining whether a project is practical, achievable and worth implementing.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It answers: Can we realistically implement this project?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550656"/>
      </p:ext>
    </p:extLst>
  </p:cSld>
  <p:clrMapOvr>
    <a:masterClrMapping/>
  </p:clrMapOvr>
</p:sld>
</file>

<file path=ppt/slides/slide2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78" name="矩形"/>
          <p:cNvSpPr>
            <a:spLocks/>
          </p:cNvSpPr>
          <p:nvPr/>
        </p:nvSpPr>
        <p:spPr>
          <a:xfrm rot="0">
            <a:off x="640080" y="411480"/>
            <a:ext cx="3219271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Factors in Feasibility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9" name="矩形"/>
          <p:cNvSpPr>
            <a:spLocks/>
          </p:cNvSpPr>
          <p:nvPr/>
        </p:nvSpPr>
        <p:spPr>
          <a:xfrm rot="0">
            <a:off x="822960" y="1371600"/>
            <a:ext cx="10607040" cy="21774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Market: Is there enough demand?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Financial: Do we have sufficient resources?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Technical: Can we build the required technology?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Risk: Are the risks manageable?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Competition: Can we compete in the market?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277844"/>
      </p:ext>
    </p:extLst>
  </p:cSld>
  <p:clrMapOvr>
    <a:masterClrMapping/>
  </p:clrMapOvr>
</p:sld>
</file>

<file path=ppt/slides/slide2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81" name="矩形"/>
          <p:cNvSpPr>
            <a:spLocks/>
          </p:cNvSpPr>
          <p:nvPr/>
        </p:nvSpPr>
        <p:spPr>
          <a:xfrm rot="0">
            <a:off x="640080" y="411480"/>
            <a:ext cx="2604439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Feasibility Score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2" name="矩形"/>
          <p:cNvSpPr>
            <a:spLocks/>
          </p:cNvSpPr>
          <p:nvPr/>
        </p:nvSpPr>
        <p:spPr>
          <a:xfrm rot="0">
            <a:off x="822960" y="1371600"/>
            <a:ext cx="10607040" cy="21774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 final score summarizes the overall feasibility.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80–100 → Highly Feasible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60–79 → Feasible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40–59 → Moderately Feasible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0–39 → Not Feasible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497245"/>
      </p:ext>
    </p:extLst>
  </p:cSld>
  <p:clrMapOvr>
    <a:masterClrMapping/>
  </p:clrMapOvr>
</p:sld>
</file>

<file path=ppt/slides/slide2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84" name="矩形"/>
          <p:cNvSpPr>
            <a:spLocks/>
          </p:cNvSpPr>
          <p:nvPr/>
        </p:nvSpPr>
        <p:spPr>
          <a:xfrm rot="0">
            <a:off x="640080" y="411480"/>
            <a:ext cx="2584170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Example Project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5" name="矩形"/>
          <p:cNvSpPr>
            <a:spLocks/>
          </p:cNvSpPr>
          <p:nvPr/>
        </p:nvSpPr>
        <p:spPr>
          <a:xfrm rot="0">
            <a:off x="822960" y="1371600"/>
            <a:ext cx="10607040" cy="29203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Project: AI-Based Online Learning Platform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Risks: Medium market risk, high financial risk, high competition risk, low technical risk, medium operational risk.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Strengths: AI personalization, easy accessibility.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Weaknesses: Limited budget, small team.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Opportunities: Growing online education market.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Threats: Established competitors, rapid technology changes.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489989"/>
      </p:ext>
    </p:extLst>
  </p:cSld>
  <p:clrMapOvr>
    <a:masterClrMapping/>
  </p:clrMapOvr>
</p:sld>
</file>

<file path=ppt/slides/slide2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87" name="矩形"/>
          <p:cNvSpPr>
            <a:spLocks/>
          </p:cNvSpPr>
          <p:nvPr/>
        </p:nvSpPr>
        <p:spPr>
          <a:xfrm rot="0">
            <a:off x="640080" y="411480"/>
            <a:ext cx="3874642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Final Evaluation Example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8" name="矩形"/>
          <p:cNvSpPr>
            <a:spLocks/>
          </p:cNvSpPr>
          <p:nvPr/>
        </p:nvSpPr>
        <p:spPr>
          <a:xfrm rot="0">
            <a:off x="822960" y="1371600"/>
            <a:ext cx="10607040" cy="1577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Feasibility Score: 72%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Result: FEASIBLE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Interpretation: The project has risks and competition, but the market opportunity and technical possibility make it feasible with proper planning.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827652"/>
      </p:ext>
    </p:extLst>
  </p:cSld>
  <p:clrMapOvr>
    <a:masterClrMapping/>
  </p:clrMapOvr>
</p:sld>
</file>

<file path=ppt/slides/slide2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90" name="矩形"/>
          <p:cNvSpPr>
            <a:spLocks/>
          </p:cNvSpPr>
          <p:nvPr/>
        </p:nvSpPr>
        <p:spPr>
          <a:xfrm rot="0">
            <a:off x="640080" y="411480"/>
            <a:ext cx="4205705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Complete Milestone 2 Flow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1" name="矩形"/>
          <p:cNvSpPr>
            <a:spLocks/>
          </p:cNvSpPr>
          <p:nvPr/>
        </p:nvSpPr>
        <p:spPr>
          <a:xfrm rot="0">
            <a:off x="822960" y="1371600"/>
            <a:ext cx="10607040" cy="20250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Project Data → Risk Assessment → Risk Score → SWOT Analysis → Feasibility Assessment → Final Recommendation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Risk: What can go wrong?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SWOT: What is good, weak, possible and dangerous?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Feasibility: Can we realistically implement it?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895009"/>
      </p:ext>
    </p:extLst>
  </p:cSld>
  <p:clrMapOvr>
    <a:masterClrMapping/>
  </p:clrMapOvr>
</p:sld>
</file>

<file path=ppt/slides/slide2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93" name="矩形"/>
          <p:cNvSpPr>
            <a:spLocks/>
          </p:cNvSpPr>
          <p:nvPr/>
        </p:nvSpPr>
        <p:spPr>
          <a:xfrm rot="0">
            <a:off x="640080" y="411480"/>
            <a:ext cx="2503093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Student Activity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4" name="矩形"/>
          <p:cNvSpPr>
            <a:spLocks/>
          </p:cNvSpPr>
          <p:nvPr/>
        </p:nvSpPr>
        <p:spPr>
          <a:xfrm rot="0">
            <a:off x="822960" y="1371600"/>
            <a:ext cx="10607040" cy="1729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Choose one startup/project idea.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Identify 5 risks: Market, Financial, Competition, Technical, Operational.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Write 2 Strengths, 2 Weaknesses, 2 Opportunities and 2 Threats.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Decide whether the project is feasible and explain why.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391532"/>
      </p:ext>
    </p:extLst>
  </p:cSld>
  <p:clrMapOvr>
    <a:masterClrMapping/>
  </p:clrMapOvr>
</p:sld>
</file>

<file path=ppt/slides/slide2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96" name="矩形"/>
          <p:cNvSpPr>
            <a:spLocks/>
          </p:cNvSpPr>
          <p:nvPr/>
        </p:nvSpPr>
        <p:spPr>
          <a:xfrm rot="0">
            <a:off x="640080" y="411480"/>
            <a:ext cx="4577308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Milestone 2 – Key Takeaways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7" name="矩形"/>
          <p:cNvSpPr>
            <a:spLocks/>
          </p:cNvSpPr>
          <p:nvPr/>
        </p:nvSpPr>
        <p:spPr>
          <a:xfrm rot="0">
            <a:off x="822960" y="1371600"/>
            <a:ext cx="10607040" cy="21774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Risk Assessment → identifies possible problems.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Risk Scoring → measures seriousness of risks.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SWOT → evaluates strengths, weaknesses, opportunities and threats.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Feasibility → determines whether the project is realistically implementable.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Final goal → support better project decisions.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467281"/>
      </p:ext>
    </p:extLst>
  </p:cSld>
  <p:clrMapOvr>
    <a:masterClrMapping/>
  </p:clrMapOvr>
</p:sld>
</file>

<file path=ppt/slides/slide3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84" name="矩形"/>
          <p:cNvSpPr>
            <a:spLocks/>
          </p:cNvSpPr>
          <p:nvPr/>
        </p:nvSpPr>
        <p:spPr>
          <a:xfrm rot="0">
            <a:off x="640080" y="411480"/>
            <a:ext cx="10400000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Completed Activity: TestAI Diagnostics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5" name="矩形"/>
          <p:cNvSpPr>
            <a:spLocks/>
          </p:cNvSpPr>
          <p:nvPr/>
        </p:nvSpPr>
        <p:spPr>
          <a:xfrm rot="0">
            <a:off x="822960" y="1371600"/>
            <a:ext cx="10607040" cy="29203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Project: TestAI Diagnostics — AI medical diagnostics platform (Healthcare, B2B, Hospitals &amp; Clinics, $150,000 budget).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Risks: Market=4, Financial=4, Competition=4, Technical=3, Operational=3 → Average = 3.6 (High Risk).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Strengths: Proprietary multi-modal diagnostic AI, experienced ML engineering team.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Weaknesses: No prior healthcare/regulatory experience, $150K budget thin for FDA clearance.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Opportunities: Growing hospital demand for AI-assisted diagnostics, partnership potential with hospital networks.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Threats: Well-funded incumbents (Aidoc, Viz.ai, PathAI), evolving FDA/regulatory requirements.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489989"/>
      </p:ext>
    </p:extLst>
  </p:cSld>
  <p:clrMapOvr>
    <a:masterClrMapping/>
  </p:clrMapOvr>
</p:sld>
</file>

<file path=ppt/slides/slide3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Lucida Sans"/>
            </a:endParaRPr>
          </a:p>
        </p:txBody>
      </p:sp>
      <p:sp>
        <p:nvSpPr>
          <p:cNvPr id="87" name="矩形"/>
          <p:cNvSpPr>
            <a:spLocks/>
          </p:cNvSpPr>
          <p:nvPr/>
        </p:nvSpPr>
        <p:spPr>
          <a:xfrm rot="0">
            <a:off x="640080" y="411480"/>
            <a:ext cx="10400000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TestAI Diagnostics — Final Evaluation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8" name="矩形"/>
          <p:cNvSpPr>
            <a:spLocks/>
          </p:cNvSpPr>
          <p:nvPr/>
        </p:nvSpPr>
        <p:spPr>
          <a:xfrm rot="0">
            <a:off x="822960" y="1371600"/>
            <a:ext cx="10607040" cy="2400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Risk Score: 3.6 / 5 (High Risk)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Feasibility Score: 51%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Result: MODERATELY FEASIBLE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Interpretation: Strong tech and a real market exist, but thin funding and heavy competition make this project risky — feasible only with more capital and a regulatory/clinical partner.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827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description>generated using python-pptx</dc:description>
  <cp:lastModifiedBy>root</cp:lastModifiedBy>
  <cp:revision>1</cp:revision>
  <dcterms:created xsi:type="dcterms:W3CDTF">2013-01-27T09:14:16Z</dcterms:created>
  <dcterms:modified xsi:type="dcterms:W3CDTF">2026-09-08T10:44:04Z</dcterms:modified>
</cp:coreProperties>
</file>